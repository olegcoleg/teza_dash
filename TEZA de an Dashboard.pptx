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5765800" cy="3244850"/>
  <p:notesSz cx="5765800" cy="3244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50"/>
  </p:normalViewPr>
  <p:slideViewPr>
    <p:cSldViewPr>
      <p:cViewPr>
        <p:scale>
          <a:sx n="177" d="100"/>
          <a:sy n="177" d="100"/>
        </p:scale>
        <p:origin x="1448" y="8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696" y="846204"/>
            <a:ext cx="3954165" cy="992772"/>
          </a:xfrm>
        </p:spPr>
        <p:txBody>
          <a:bodyPr anchor="b">
            <a:noAutofit/>
          </a:bodyPr>
          <a:lstStyle>
            <a:lvl1pPr algn="ctr">
              <a:defRPr sz="3405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7372" y="1871906"/>
            <a:ext cx="3230812" cy="513951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88"/>
            </a:lvl1pPr>
            <a:lvl2pPr marL="216210" indent="0" algn="ctr">
              <a:buNone/>
              <a:defRPr sz="946"/>
            </a:lvl2pPr>
            <a:lvl3pPr marL="432420" indent="0" algn="ctr">
              <a:buNone/>
              <a:defRPr sz="851"/>
            </a:lvl3pPr>
            <a:lvl4pPr marL="648630" indent="0" algn="ctr">
              <a:buNone/>
              <a:defRPr sz="757"/>
            </a:lvl4pPr>
            <a:lvl5pPr marL="864840" indent="0" algn="ctr">
              <a:buNone/>
              <a:defRPr sz="757"/>
            </a:lvl5pPr>
            <a:lvl6pPr marL="1081049" indent="0" algn="ctr">
              <a:buNone/>
              <a:defRPr sz="757"/>
            </a:lvl6pPr>
            <a:lvl7pPr marL="1297259" indent="0" algn="ctr">
              <a:buNone/>
              <a:defRPr sz="757"/>
            </a:lvl7pPr>
            <a:lvl8pPr marL="1513469" indent="0" algn="ctr">
              <a:buNone/>
              <a:defRPr sz="757"/>
            </a:lvl8pPr>
            <a:lvl9pPr marL="1729679" indent="0" algn="ctr">
              <a:buNone/>
              <a:defRPr sz="75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6039" y="3053408"/>
            <a:ext cx="760424" cy="19144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22042" y="3053408"/>
            <a:ext cx="3321472" cy="191442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M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4" y="3053408"/>
            <a:ext cx="754913" cy="19144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  <p:grpSp>
        <p:nvGrpSpPr>
          <p:cNvPr id="7" name="Group 6"/>
          <p:cNvGrpSpPr/>
          <p:nvPr/>
        </p:nvGrpSpPr>
        <p:grpSpPr>
          <a:xfrm>
            <a:off x="356039" y="352244"/>
            <a:ext cx="5047968" cy="2531187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78565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</p:spTree>
    <p:extLst>
      <p:ext uri="{BB962C8B-B14F-4D97-AF65-F5344CB8AC3E}">
        <p14:creationId xmlns:p14="http://schemas.microsoft.com/office/powerpoint/2010/main" val="1706266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793" y="615736"/>
            <a:ext cx="4546134" cy="1349767"/>
          </a:xfrm>
        </p:spPr>
        <p:txBody>
          <a:bodyPr anchor="b">
            <a:normAutofit/>
          </a:bodyPr>
          <a:lstStyle>
            <a:lvl1pPr algn="r">
              <a:defRPr sz="3405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793" y="1994948"/>
            <a:ext cx="4546134" cy="540962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35">
                <a:solidFill>
                  <a:schemeClr val="tx2"/>
                </a:solidFill>
              </a:defRPr>
            </a:lvl1pPr>
            <a:lvl2pPr marL="216210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2pPr>
            <a:lvl3pPr marL="432420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630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4pPr>
            <a:lvl5pPr marL="864840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5pPr>
            <a:lvl6pPr marL="108104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6pPr>
            <a:lvl7pPr marL="129725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7pPr>
            <a:lvl8pPr marL="151346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8pPr>
            <a:lvl9pPr marL="1729679" indent="0">
              <a:buNone/>
              <a:defRPr sz="7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9442" y="3053408"/>
            <a:ext cx="767264" cy="191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22164" y="3053408"/>
            <a:ext cx="3321472" cy="191442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M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4" y="3053408"/>
            <a:ext cx="754913" cy="191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3855199" y="797563"/>
            <a:ext cx="1548808" cy="208586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86680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8653" y="1081617"/>
            <a:ext cx="2103432" cy="169453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85972" y="1081617"/>
            <a:ext cx="2103432" cy="169453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</p:spTree>
    <p:extLst>
      <p:ext uri="{BB962C8B-B14F-4D97-AF65-F5344CB8AC3E}">
        <p14:creationId xmlns:p14="http://schemas.microsoft.com/office/powerpoint/2010/main" val="3169438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652" y="324485"/>
            <a:ext cx="4540568" cy="703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653" y="1107576"/>
            <a:ext cx="2101634" cy="38983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19" b="0" baseline="0">
                <a:solidFill>
                  <a:schemeClr val="tx2"/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653" y="1563853"/>
            <a:ext cx="2101634" cy="121229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85788" y="1107576"/>
            <a:ext cx="2101634" cy="38983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19" b="0" baseline="0">
                <a:solidFill>
                  <a:schemeClr val="tx2"/>
                </a:solidFill>
              </a:defRPr>
            </a:lvl1pPr>
            <a:lvl2pPr marL="216210" indent="0">
              <a:buNone/>
              <a:defRPr sz="946" b="1"/>
            </a:lvl2pPr>
            <a:lvl3pPr marL="432420" indent="0">
              <a:buNone/>
              <a:defRPr sz="851" b="1"/>
            </a:lvl3pPr>
            <a:lvl4pPr marL="648630" indent="0">
              <a:buNone/>
              <a:defRPr sz="757" b="1"/>
            </a:lvl4pPr>
            <a:lvl5pPr marL="864840" indent="0">
              <a:buNone/>
              <a:defRPr sz="757" b="1"/>
            </a:lvl5pPr>
            <a:lvl6pPr marL="1081049" indent="0">
              <a:buNone/>
              <a:defRPr sz="757" b="1"/>
            </a:lvl6pPr>
            <a:lvl7pPr marL="1297259" indent="0">
              <a:buNone/>
              <a:defRPr sz="757" b="1"/>
            </a:lvl7pPr>
            <a:lvl8pPr marL="1513469" indent="0">
              <a:buNone/>
              <a:defRPr sz="757" b="1"/>
            </a:lvl8pPr>
            <a:lvl9pPr marL="1729679" indent="0">
              <a:buNone/>
              <a:defRPr sz="75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85788" y="1563853"/>
            <a:ext cx="2101634" cy="121229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</p:spTree>
    <p:extLst>
      <p:ext uri="{BB962C8B-B14F-4D97-AF65-F5344CB8AC3E}">
        <p14:creationId xmlns:p14="http://schemas.microsoft.com/office/powerpoint/2010/main" val="85572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</p:spTree>
    <p:extLst>
      <p:ext uri="{BB962C8B-B14F-4D97-AF65-F5344CB8AC3E}">
        <p14:creationId xmlns:p14="http://schemas.microsoft.com/office/powerpoint/2010/main" val="2652735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</p:spTree>
    <p:extLst>
      <p:ext uri="{BB962C8B-B14F-4D97-AF65-F5344CB8AC3E}">
        <p14:creationId xmlns:p14="http://schemas.microsoft.com/office/powerpoint/2010/main" val="85875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178"/>
            <a:ext cx="2508123" cy="3244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45" y="324485"/>
            <a:ext cx="1823434" cy="1020999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227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8576" y="324485"/>
            <a:ext cx="2464880" cy="2448660"/>
          </a:xfrm>
        </p:spPr>
        <p:txBody>
          <a:bodyPr/>
          <a:lstStyle>
            <a:lvl1pPr>
              <a:defRPr sz="946"/>
            </a:lvl1pPr>
            <a:lvl2pPr>
              <a:defRPr sz="946"/>
            </a:lvl2pPr>
            <a:lvl3pPr>
              <a:defRPr sz="851"/>
            </a:lvl3pPr>
            <a:lvl4pPr>
              <a:defRPr sz="851"/>
            </a:lvl4pPr>
            <a:lvl5pPr>
              <a:defRPr sz="757"/>
            </a:lvl5pPr>
            <a:lvl6pPr>
              <a:defRPr sz="757"/>
            </a:lvl6pPr>
            <a:lvl7pPr>
              <a:defRPr sz="757"/>
            </a:lvl7pPr>
            <a:lvl8pPr>
              <a:defRPr sz="757"/>
            </a:lvl8pPr>
            <a:lvl9pPr>
              <a:defRPr sz="75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345" y="1351474"/>
            <a:ext cx="1823434" cy="142467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709"/>
              </a:spcAft>
              <a:buNone/>
              <a:defRPr sz="757"/>
            </a:lvl1pPr>
            <a:lvl2pPr marL="216210" indent="0">
              <a:buNone/>
              <a:defRPr sz="662"/>
            </a:lvl2pPr>
            <a:lvl3pPr marL="432420" indent="0">
              <a:buNone/>
              <a:defRPr sz="567"/>
            </a:lvl3pPr>
            <a:lvl4pPr marL="648630" indent="0">
              <a:buNone/>
              <a:defRPr sz="473"/>
            </a:lvl4pPr>
            <a:lvl5pPr marL="864840" indent="0">
              <a:buNone/>
              <a:defRPr sz="473"/>
            </a:lvl5pPr>
            <a:lvl6pPr marL="1081049" indent="0">
              <a:buNone/>
              <a:defRPr sz="473"/>
            </a:lvl6pPr>
            <a:lvl7pPr marL="1297259" indent="0">
              <a:buNone/>
              <a:defRPr sz="473"/>
            </a:lvl7pPr>
            <a:lvl8pPr marL="1513469" indent="0">
              <a:buNone/>
              <a:defRPr sz="473"/>
            </a:lvl8pPr>
            <a:lvl9pPr marL="1729679" indent="0">
              <a:buNone/>
              <a:defRPr sz="47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344" y="3053408"/>
            <a:ext cx="569662" cy="191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43229" y="3053408"/>
            <a:ext cx="1122550" cy="191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M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73902" y="3053408"/>
            <a:ext cx="754913" cy="191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2508123" y="178"/>
            <a:ext cx="108109" cy="32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8226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178"/>
            <a:ext cx="2508123" cy="3244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45" y="324485"/>
            <a:ext cx="1823434" cy="1020999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227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16232" y="0"/>
            <a:ext cx="3149568" cy="3244850"/>
          </a:xfrm>
        </p:spPr>
        <p:txBody>
          <a:bodyPr anchor="t">
            <a:normAutofit/>
          </a:bodyPr>
          <a:lstStyle>
            <a:lvl1pPr marL="0" indent="0">
              <a:buNone/>
              <a:defRPr sz="946"/>
            </a:lvl1pPr>
            <a:lvl2pPr marL="216210" indent="0">
              <a:buNone/>
              <a:defRPr sz="946"/>
            </a:lvl2pPr>
            <a:lvl3pPr marL="432420" indent="0">
              <a:buNone/>
              <a:defRPr sz="946"/>
            </a:lvl3pPr>
            <a:lvl4pPr marL="648630" indent="0">
              <a:buNone/>
              <a:defRPr sz="946"/>
            </a:lvl4pPr>
            <a:lvl5pPr marL="864840" indent="0">
              <a:buNone/>
              <a:defRPr sz="946"/>
            </a:lvl5pPr>
            <a:lvl6pPr marL="1081049" indent="0">
              <a:buNone/>
              <a:defRPr sz="946"/>
            </a:lvl6pPr>
            <a:lvl7pPr marL="1297259" indent="0">
              <a:buNone/>
              <a:defRPr sz="946"/>
            </a:lvl7pPr>
            <a:lvl8pPr marL="1513469" indent="0">
              <a:buNone/>
              <a:defRPr sz="946"/>
            </a:lvl8pPr>
            <a:lvl9pPr marL="1729679" indent="0">
              <a:buNone/>
              <a:defRPr sz="94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345" y="1351296"/>
            <a:ext cx="1823434" cy="1424853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709"/>
              </a:spcAft>
              <a:buNone/>
              <a:defRPr sz="757"/>
            </a:lvl1pPr>
            <a:lvl2pPr marL="216210" indent="0">
              <a:buNone/>
              <a:defRPr sz="662"/>
            </a:lvl2pPr>
            <a:lvl3pPr marL="432420" indent="0">
              <a:buNone/>
              <a:defRPr sz="567"/>
            </a:lvl3pPr>
            <a:lvl4pPr marL="648630" indent="0">
              <a:buNone/>
              <a:defRPr sz="473"/>
            </a:lvl4pPr>
            <a:lvl5pPr marL="864840" indent="0">
              <a:buNone/>
              <a:defRPr sz="473"/>
            </a:lvl5pPr>
            <a:lvl6pPr marL="1081049" indent="0">
              <a:buNone/>
              <a:defRPr sz="473"/>
            </a:lvl6pPr>
            <a:lvl7pPr marL="1297259" indent="0">
              <a:buNone/>
              <a:defRPr sz="473"/>
            </a:lvl7pPr>
            <a:lvl8pPr marL="1513469" indent="0">
              <a:buNone/>
              <a:defRPr sz="473"/>
            </a:lvl8pPr>
            <a:lvl9pPr marL="1729679" indent="0">
              <a:buNone/>
              <a:defRPr sz="47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344" y="3053408"/>
            <a:ext cx="569662" cy="191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43229" y="3053408"/>
            <a:ext cx="1122550" cy="191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M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73902" y="3053408"/>
            <a:ext cx="754913" cy="19144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2508123" y="178"/>
            <a:ext cx="108109" cy="32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7372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8652" y="1086124"/>
            <a:ext cx="4540568" cy="16900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</p:spTree>
    <p:extLst>
      <p:ext uri="{BB962C8B-B14F-4D97-AF65-F5344CB8AC3E}">
        <p14:creationId xmlns:p14="http://schemas.microsoft.com/office/powerpoint/2010/main" val="300706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38374" y="295318"/>
            <a:ext cx="740477" cy="248083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8653" y="295318"/>
            <a:ext cx="3868289" cy="248083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</p:spTree>
    <p:extLst>
      <p:ext uri="{BB962C8B-B14F-4D97-AF65-F5344CB8AC3E}">
        <p14:creationId xmlns:p14="http://schemas.microsoft.com/office/powerpoint/2010/main" val="176971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8652" y="324485"/>
            <a:ext cx="4540568" cy="7030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8652" y="1081617"/>
            <a:ext cx="4540568" cy="1694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7662" y="3053408"/>
            <a:ext cx="569662" cy="191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 baseline="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8415" y="3053408"/>
            <a:ext cx="2970309" cy="191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 baseline="0">
                <a:solidFill>
                  <a:schemeClr val="tx2"/>
                </a:solidFill>
              </a:defRPr>
            </a:lvl1pPr>
          </a:lstStyle>
          <a:p>
            <a:endParaRPr lang="en-M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79815" y="3053408"/>
            <a:ext cx="754913" cy="1914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 baseline="0"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lang="en-MD" spc="-25" smtClean="0"/>
              <a:t>‹#›</a:t>
            </a:fld>
            <a:endParaRPr lang="en-MD" spc="-25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226099" y="178"/>
            <a:ext cx="108109" cy="3244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78223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2420" rtl="0" eaLnBrk="1" latinLnBrk="0" hangingPunct="1">
        <a:lnSpc>
          <a:spcPct val="89000"/>
        </a:lnSpc>
        <a:spcBef>
          <a:spcPct val="0"/>
        </a:spcBef>
        <a:buNone/>
        <a:defRPr sz="208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1616" indent="-181616" algn="l" defTabSz="432420" rtl="0" eaLnBrk="1" latinLnBrk="0" hangingPunct="1">
        <a:lnSpc>
          <a:spcPct val="94000"/>
        </a:lnSpc>
        <a:spcBef>
          <a:spcPts val="473"/>
        </a:spcBef>
        <a:spcAft>
          <a:spcPts val="95"/>
        </a:spcAft>
        <a:buFont typeface="Franklin Gothic Book" panose="020B0503020102020204" pitchFamily="34" charset="0"/>
        <a:buChar char="■"/>
        <a:defRPr sz="946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432420" indent="-181616" algn="l" defTabSz="432420" rtl="0" eaLnBrk="1" latinLnBrk="0" hangingPunct="1">
        <a:lnSpc>
          <a:spcPct val="94000"/>
        </a:lnSpc>
        <a:spcBef>
          <a:spcPts val="236"/>
        </a:spcBef>
        <a:spcAft>
          <a:spcPts val="95"/>
        </a:spcAft>
        <a:buFont typeface="Franklin Gothic Book" panose="020B0503020102020204" pitchFamily="34" charset="0"/>
        <a:buChar char="–"/>
        <a:defRPr sz="946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648630" indent="-181616" algn="l" defTabSz="432420" rtl="0" eaLnBrk="1" latinLnBrk="0" hangingPunct="1">
        <a:lnSpc>
          <a:spcPct val="94000"/>
        </a:lnSpc>
        <a:spcBef>
          <a:spcPts val="236"/>
        </a:spcBef>
        <a:spcAft>
          <a:spcPts val="95"/>
        </a:spcAft>
        <a:buFont typeface="Franklin Gothic Book" panose="020B0503020102020204" pitchFamily="34" charset="0"/>
        <a:buChar char="■"/>
        <a:defRPr sz="851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864840" indent="-181616" algn="l" defTabSz="432420" rtl="0" eaLnBrk="1" latinLnBrk="0" hangingPunct="1">
        <a:lnSpc>
          <a:spcPct val="94000"/>
        </a:lnSpc>
        <a:spcBef>
          <a:spcPts val="236"/>
        </a:spcBef>
        <a:spcAft>
          <a:spcPts val="95"/>
        </a:spcAft>
        <a:buFont typeface="Franklin Gothic Book" panose="020B0503020102020204" pitchFamily="34" charset="0"/>
        <a:buChar char="–"/>
        <a:defRPr sz="851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081049" indent="-181616" algn="l" defTabSz="432420" rtl="0" eaLnBrk="1" latinLnBrk="0" hangingPunct="1">
        <a:lnSpc>
          <a:spcPct val="94000"/>
        </a:lnSpc>
        <a:spcBef>
          <a:spcPts val="236"/>
        </a:spcBef>
        <a:spcAft>
          <a:spcPts val="95"/>
        </a:spcAft>
        <a:buFont typeface="Franklin Gothic Book" panose="020B0503020102020204" pitchFamily="34" charset="0"/>
        <a:buChar char="■"/>
        <a:defRPr sz="757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297259" indent="-181616" algn="l" defTabSz="432420" rtl="0" eaLnBrk="1" latinLnBrk="0" hangingPunct="1">
        <a:lnSpc>
          <a:spcPct val="94000"/>
        </a:lnSpc>
        <a:spcBef>
          <a:spcPts val="236"/>
        </a:spcBef>
        <a:spcAft>
          <a:spcPts val="95"/>
        </a:spcAft>
        <a:buFont typeface="Franklin Gothic Book" panose="020B0503020102020204" pitchFamily="34" charset="0"/>
        <a:buChar char="–"/>
        <a:defRPr sz="757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1513469" indent="-181616" algn="l" defTabSz="432420" rtl="0" eaLnBrk="1" latinLnBrk="0" hangingPunct="1">
        <a:lnSpc>
          <a:spcPct val="94000"/>
        </a:lnSpc>
        <a:spcBef>
          <a:spcPts val="236"/>
        </a:spcBef>
        <a:spcAft>
          <a:spcPts val="95"/>
        </a:spcAft>
        <a:buFont typeface="Franklin Gothic Book" panose="020B0503020102020204" pitchFamily="34" charset="0"/>
        <a:buChar char="■"/>
        <a:defRPr sz="662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29679" indent="-181616" algn="l" defTabSz="432420" rtl="0" eaLnBrk="1" latinLnBrk="0" hangingPunct="1">
        <a:lnSpc>
          <a:spcPct val="94000"/>
        </a:lnSpc>
        <a:spcBef>
          <a:spcPts val="236"/>
        </a:spcBef>
        <a:spcAft>
          <a:spcPts val="95"/>
        </a:spcAft>
        <a:buFont typeface="Franklin Gothic Book" panose="020B0503020102020204" pitchFamily="34" charset="0"/>
        <a:buChar char="–"/>
        <a:defRPr sz="662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1945889" indent="-181616" algn="l" defTabSz="432420" rtl="0" eaLnBrk="1" latinLnBrk="0" hangingPunct="1">
        <a:lnSpc>
          <a:spcPct val="94000"/>
        </a:lnSpc>
        <a:spcBef>
          <a:spcPts val="236"/>
        </a:spcBef>
        <a:spcAft>
          <a:spcPts val="95"/>
        </a:spcAft>
        <a:buFont typeface="Franklin Gothic Book" panose="020B0503020102020204" pitchFamily="34" charset="0"/>
        <a:buChar char="■"/>
        <a:defRPr sz="662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21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42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63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840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104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725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346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9679" algn="l" defTabSz="432420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8532" y="1053525"/>
            <a:ext cx="4785995" cy="8855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22800"/>
              </a:lnSpc>
              <a:spcBef>
                <a:spcPts val="90"/>
              </a:spcBef>
            </a:pPr>
            <a:r>
              <a:rPr lang="en-GB" sz="2400" b="1" spc="-13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Dezvoltarea</a:t>
            </a:r>
            <a:r>
              <a:rPr lang="en-GB" sz="2400" b="1" spc="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-12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lang="en-GB" sz="2400" b="1" spc="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-1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GB" sz="2400" b="1" spc="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-13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</a:t>
            </a:r>
            <a:r>
              <a:rPr lang="en-GB" sz="2400" b="1" spc="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-10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Utilizând</a:t>
            </a:r>
            <a:r>
              <a:rPr lang="en-GB" sz="2400" b="1" spc="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-1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GB" sz="2400" b="1" spc="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-9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2400" b="1" spc="-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-1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React-</a:t>
            </a:r>
            <a:r>
              <a:rPr lang="en-GB" sz="24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endParaRPr lang="en-GB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9559" y="2016786"/>
            <a:ext cx="1621491" cy="2891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Teză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496307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424169-26DD-FAEB-680F-615E58DCF77D}"/>
              </a:ext>
            </a:extLst>
          </p:cNvPr>
          <p:cNvSpPr txBox="1"/>
          <p:nvPr/>
        </p:nvSpPr>
        <p:spPr>
          <a:xfrm>
            <a:off x="1025790" y="220782"/>
            <a:ext cx="3831481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spcBef>
                <a:spcPts val="810"/>
              </a:spcBef>
            </a:pPr>
            <a:r>
              <a:rPr lang="en-GB" sz="105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Universitatea</a:t>
            </a:r>
            <a:r>
              <a:rPr lang="en-GB" sz="1050" spc="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GB" sz="1050" spc="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</a:t>
            </a:r>
            <a:r>
              <a:rPr lang="en-GB" sz="1050" spc="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„Alecu</a:t>
            </a:r>
            <a:r>
              <a:rPr lang="en-GB" sz="1050" spc="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Russo”</a:t>
            </a:r>
            <a:r>
              <a:rPr lang="en-GB" sz="1050" spc="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</a:t>
            </a:r>
            <a:r>
              <a:rPr lang="en-GB" sz="1050" spc="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spc="-1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Bălți</a:t>
            </a:r>
            <a:r>
              <a:rPr lang="en-GB" sz="105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2700" marR="5080">
              <a:spcBef>
                <a:spcPts val="810"/>
              </a:spcBef>
            </a:pPr>
            <a:r>
              <a:rPr lang="en-GB" sz="105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Facultatea</a:t>
            </a:r>
            <a:r>
              <a:rPr lang="en-GB" sz="10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sz="105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Științe</a:t>
            </a:r>
            <a:r>
              <a:rPr lang="en-GB" sz="10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Reale,</a:t>
            </a:r>
            <a:r>
              <a:rPr lang="en-GB" sz="1050" spc="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spc="-2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Economice</a:t>
            </a:r>
            <a:r>
              <a:rPr lang="en-GB" sz="10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0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ale</a:t>
            </a:r>
            <a:r>
              <a:rPr lang="en-GB" sz="1050" spc="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spc="-1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Mediului</a:t>
            </a:r>
            <a:r>
              <a:rPr lang="en-GB" sz="105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spc="-1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Catedra</a:t>
            </a:r>
            <a:r>
              <a:rPr lang="en-GB" sz="1050" spc="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GB" sz="1050" spc="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Matematică</a:t>
            </a:r>
            <a:r>
              <a:rPr lang="en-GB" sz="1050" spc="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GB" sz="1050" spc="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050" spc="-1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Informatică</a:t>
            </a:r>
            <a:endParaRPr lang="en-GB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43C820-F0BD-E215-9C59-513B0902BF83}"/>
              </a:ext>
            </a:extLst>
          </p:cNvPr>
          <p:cNvSpPr txBox="1"/>
          <p:nvPr/>
        </p:nvSpPr>
        <p:spPr>
          <a:xfrm>
            <a:off x="1054100" y="2460625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MD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Autor: Oleg OALĂ</a:t>
            </a:r>
          </a:p>
          <a:p>
            <a:pPr algn="r"/>
            <a:r>
              <a:rPr lang="ro-R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Conducător științific: Adela GOREA</a:t>
            </a:r>
            <a:endParaRPr lang="en-M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MD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525820"/>
            <a:ext cx="454056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Actualitate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332" y="1032025"/>
            <a:ext cx="4787396" cy="1397177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45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6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Creșterea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volumului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necesită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soluții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eficiente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vizualizare.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35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6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Dashboard-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urile 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sunt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vitale 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350"/>
              </a:spcBef>
              <a:buClr>
                <a:srgbClr val="1F2937"/>
              </a:buClr>
              <a:buChar char="•"/>
              <a:tabLst>
                <a:tab pos="465455" algn="l"/>
              </a:tabLst>
            </a:pPr>
            <a:r>
              <a:rPr sz="1200" spc="-10" dirty="0">
                <a:solidFill>
                  <a:srgbClr val="F43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Afaceri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spc="5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Monitorizarea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KPI-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urilor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vânzărilor.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175"/>
              </a:spcBef>
              <a:buClr>
                <a:srgbClr val="1F2937"/>
              </a:buClr>
              <a:buChar char="•"/>
              <a:tabLst>
                <a:tab pos="465455" algn="l"/>
              </a:tabLst>
            </a:pPr>
            <a:r>
              <a:rPr sz="1200" spc="-25" dirty="0">
                <a:solidFill>
                  <a:srgbClr val="F43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Educație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spc="8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Prezentarea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clară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rezultatelor.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175"/>
              </a:spcBef>
              <a:buClr>
                <a:srgbClr val="1F2937"/>
              </a:buClr>
              <a:buChar char="•"/>
              <a:tabLst>
                <a:tab pos="465455" algn="l"/>
              </a:tabLst>
            </a:pPr>
            <a:r>
              <a:rPr sz="1200" spc="-10" dirty="0">
                <a:solidFill>
                  <a:srgbClr val="F43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Administrație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spc="5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Transparență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decizii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bazate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60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6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React-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oferă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6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ecosistem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525820"/>
            <a:ext cx="19050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</a:t>
            </a:r>
            <a:r>
              <a:rPr lang="ro-RO" sz="2000" spc="-12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</a:t>
            </a:r>
            <a:r>
              <a:rPr lang="ro-RO" sz="20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lucrării</a:t>
            </a:r>
            <a:endParaRPr sz="2000" spc="-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3332" y="1089025"/>
            <a:ext cx="4721225" cy="450764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  <a:buClr>
                <a:srgbClr val="F43E5E"/>
              </a:buClr>
              <a:tabLst>
                <a:tab pos="187325" algn="l"/>
              </a:tabLst>
            </a:pPr>
            <a:r>
              <a:rPr lang="ro-RO" sz="1200" spc="-6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Constă în </a:t>
            </a:r>
            <a:r>
              <a:rPr sz="1200" spc="-6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Cercetarea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funcționalităților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7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React-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lang="ro-RO"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și </a:t>
            </a:r>
            <a:r>
              <a:rPr lang="ro-RO"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200" spc="-5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ezvoltarea</a:t>
            </a:r>
            <a:r>
              <a:rPr lang="ro-RO"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200" spc="-5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ulterioră</a:t>
            </a:r>
            <a:r>
              <a:rPr lang="ro-RO"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unui </a:t>
            </a:r>
            <a:r>
              <a:rPr sz="1200" spc="-6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interactiv pentru </a:t>
            </a:r>
            <a:r>
              <a:rPr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vizualizarea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datelor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timp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4" descr="React Charts — a charting library">
            <a:extLst>
              <a:ext uri="{FF2B5EF4-FFF2-40B4-BE49-F238E27FC236}">
                <a16:creationId xmlns:a16="http://schemas.microsoft.com/office/drawing/2014/main" id="{28ABD8EC-8A44-72C1-933B-71781B24DE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0500" y="14700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D"/>
          </a:p>
        </p:txBody>
      </p:sp>
      <p:sp>
        <p:nvSpPr>
          <p:cNvPr id="8" name="AutoShape 10" descr="React Charts - Simple, immersive &amp; interactive charts for React">
            <a:extLst>
              <a:ext uri="{FF2B5EF4-FFF2-40B4-BE49-F238E27FC236}">
                <a16:creationId xmlns:a16="http://schemas.microsoft.com/office/drawing/2014/main" id="{420C0A74-EE2D-CE84-1D5C-EF658A9D38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39900" y="479425"/>
            <a:ext cx="14478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D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26D4F9-86C7-9D49-6612-0CD6601E0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3800" y="2092561"/>
            <a:ext cx="3035300" cy="60963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7BA4791-3FE0-9D8F-53AC-B99BC092C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21" y="1782873"/>
            <a:ext cx="1428579" cy="127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525820"/>
            <a:ext cx="454056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Obiective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332" y="1154808"/>
            <a:ext cx="3350895" cy="1012457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635"/>
              </a:spcBef>
              <a:buClr>
                <a:srgbClr val="F43E5E"/>
              </a:buClr>
              <a:buAutoNum type="arabicPeriod"/>
              <a:tabLst>
                <a:tab pos="187325" algn="l"/>
              </a:tabLst>
            </a:pP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principiilor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bibliotecii React.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lr>
                <a:srgbClr val="F43E5E"/>
              </a:buClr>
              <a:buAutoNum type="arabicPeriod"/>
              <a:tabLst>
                <a:tab pos="187325" algn="l"/>
              </a:tabLst>
            </a:pP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funcționalităților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6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React-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Clr>
                <a:srgbClr val="F43E5E"/>
              </a:buClr>
              <a:buAutoNum type="arabicPeriod"/>
              <a:tabLst>
                <a:tab pos="187325" algn="l"/>
              </a:tabLst>
            </a:pPr>
            <a:r>
              <a:rPr sz="1200" spc="-7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Realizarea</a:t>
            </a:r>
            <a:r>
              <a:rPr sz="1200" spc="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unui</a:t>
            </a:r>
            <a:r>
              <a:rPr sz="1200" spc="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6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200" spc="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integrând</a:t>
            </a:r>
            <a:r>
              <a:rPr sz="1200" spc="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7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aceste</a:t>
            </a:r>
            <a:r>
              <a:rPr sz="1200" spc="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tehnologii.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lr>
                <a:srgbClr val="F43E5E"/>
              </a:buClr>
              <a:buAutoNum type="arabicPeriod"/>
              <a:tabLst>
                <a:tab pos="187325" algn="l"/>
              </a:tabLst>
            </a:pPr>
            <a:r>
              <a:rPr sz="1200" spc="-6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Testarea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interfeței</a:t>
            </a:r>
            <a:r>
              <a:rPr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7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diverse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rezoluții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CAB2F9-E4EE-6C71-7910-999010566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0" y="1028149"/>
            <a:ext cx="1378748" cy="137874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525820"/>
            <a:ext cx="314549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Capitolul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Arhitectura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332" y="1153741"/>
            <a:ext cx="4492968" cy="1012457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63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client-server cu separarea frontend-backend.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Page Applications (SPA) reduc timpul de încărcare.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Securitate prin JWT, HTTPS și criptare.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Optimizare cu caching și CDN.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52" y="324485"/>
            <a:ext cx="4540568" cy="3323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Capitolul 1: Model Component-Based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332" y="1030958"/>
            <a:ext cx="3157220" cy="1397177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45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împărțit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reutilizabile.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35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Beneficii: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350"/>
              </a:spcBef>
              <a:buChar char="•"/>
              <a:tabLst>
                <a:tab pos="465455" algn="l"/>
              </a:tabLst>
            </a:pP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Întreținere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ușoară.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175"/>
              </a:spcBef>
              <a:buChar char="•"/>
              <a:tabLst>
                <a:tab pos="465455" algn="l"/>
              </a:tabLst>
            </a:pP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Reutilizarea</a:t>
            </a:r>
            <a:r>
              <a:rPr sz="1200" spc="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codului.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175"/>
              </a:spcBef>
              <a:buChar char="•"/>
              <a:tabLst>
                <a:tab pos="465455" algn="l"/>
              </a:tabLst>
            </a:pPr>
            <a:r>
              <a:rPr sz="1200" spc="-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Colaborare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eficientă.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60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Hooks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(useState,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useEffect)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funcționalitate.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9300" y="327025"/>
            <a:ext cx="3276600" cy="3323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Capitolul 1: Gestionarea Stării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332" y="1036736"/>
            <a:ext cx="3053715" cy="1581843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45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Hooks:</a:t>
            </a:r>
            <a:r>
              <a:rPr sz="1200" spc="8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useState,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useEffect,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useContext.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35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Utilizări: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350"/>
              </a:spcBef>
              <a:buChar char="•"/>
              <a:tabLst>
                <a:tab pos="465455" algn="l"/>
              </a:tabLst>
            </a:pP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Filtres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selecții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(useState).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175"/>
              </a:spcBef>
              <a:buChar char="•"/>
              <a:tabLst>
                <a:tab pos="465455" algn="l"/>
              </a:tabLst>
            </a:pP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Apeluri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actualizări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(useEffect).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175"/>
              </a:spcBef>
              <a:buChar char="•"/>
              <a:tabLst>
                <a:tab pos="465455" algn="l"/>
              </a:tabLst>
            </a:pPr>
            <a:r>
              <a:rPr sz="1200" spc="-6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5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limbă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(useContext).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60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Hook-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sz="1200" spc="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personalizate</a:t>
            </a:r>
            <a:r>
              <a:rPr sz="1200" spc="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sz="1200" spc="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logică</a:t>
            </a:r>
            <a:r>
              <a:rPr sz="1200" spc="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reutilizabilă.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52" y="324485"/>
            <a:ext cx="4540568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Capitolul 1: Vizualizarea Datelor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332" y="1096566"/>
            <a:ext cx="5318468" cy="1197123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7325" indent="-174625">
              <a:spcBef>
                <a:spcPts val="635"/>
              </a:spcBef>
              <a:buClr>
                <a:srgbClr val="F43E5E"/>
              </a:buClr>
              <a:buFontTx/>
              <a:buChar char="•"/>
              <a:tabLst>
                <a:tab pos="187325" algn="l"/>
              </a:tabLst>
            </a:pPr>
            <a:r>
              <a:rPr sz="1200" spc="-6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React-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200" spc="-1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bazat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d3.js</a:t>
            </a:r>
            <a:r>
              <a:rPr lang="ro-RO" sz="1050" i="1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0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Documents</a:t>
            </a:r>
            <a:r>
              <a:rPr lang="ro-RO" sz="1050" i="1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5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grafice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40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Tipuri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spc="8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linie, 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bară,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pie,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scatter.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35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Avantaje: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350"/>
              </a:spcBef>
              <a:buChar char="•"/>
              <a:tabLst>
                <a:tab pos="465455" algn="l"/>
              </a:tabLst>
            </a:pP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Responsivitate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interactivitate.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175"/>
              </a:spcBef>
              <a:buChar char="•"/>
              <a:tabLst>
                <a:tab pos="465455" algn="l"/>
              </a:tabLst>
            </a:pP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Integrare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6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ușoară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52" y="324485"/>
            <a:ext cx="4540568" cy="3323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Partea Practică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332" y="1003968"/>
            <a:ext cx="4188168" cy="1413848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484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Etape: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350"/>
              </a:spcBef>
              <a:buAutoNum type="arabicPeriod"/>
              <a:tabLst>
                <a:tab pos="465455" algn="l"/>
              </a:tabLst>
            </a:pP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Configurare:</a:t>
            </a:r>
            <a:r>
              <a:rPr sz="1200" spc="7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Next.js, </a:t>
            </a:r>
            <a:r>
              <a:rPr sz="1200" spc="-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Recharts,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TailwindCSS.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465455" algn="l"/>
              </a:tabLst>
            </a:pP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Componente:</a:t>
            </a:r>
            <a:r>
              <a:rPr sz="1200" spc="7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Sidebar</a:t>
            </a:r>
            <a:r>
              <a:rPr lang="ro-RO"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o-RO" sz="1200" spc="-1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5455" lvl="1" indent="-16637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465455" algn="l"/>
              </a:tabLst>
            </a:pP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Integrare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filtre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interactive.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60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Grafice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6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și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navigare</a:t>
            </a:r>
            <a:r>
              <a:rPr sz="1200" spc="-1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dinamică.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7325" indent="-174625">
              <a:lnSpc>
                <a:spcPct val="100000"/>
              </a:lnSpc>
              <a:spcBef>
                <a:spcPts val="53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Testat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corectitudinea grafică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responsivitate.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52" y="324485"/>
            <a:ext cx="4540568" cy="3323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4479815" y="3091389"/>
            <a:ext cx="754913" cy="1154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936625"/>
            <a:ext cx="3522979" cy="1720343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87020" indent="-174625">
              <a:lnSpc>
                <a:spcPct val="100000"/>
              </a:lnSpc>
              <a:spcBef>
                <a:spcPts val="635"/>
              </a:spcBef>
              <a:buAutoNum type="arabicPeriod"/>
              <a:tabLst>
                <a:tab pos="287020" algn="l"/>
              </a:tabLst>
            </a:pPr>
            <a:r>
              <a:rPr sz="1200" spc="-20" dirty="0">
                <a:solidFill>
                  <a:srgbClr val="F43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spc="6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Modular,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robust, susținut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5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comunitate.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17462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287020" algn="l"/>
              </a:tabLst>
            </a:pPr>
            <a:r>
              <a:rPr sz="1200" spc="-60" dirty="0">
                <a:solidFill>
                  <a:srgbClr val="F43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React-</a:t>
            </a:r>
            <a:r>
              <a:rPr sz="1200" spc="-25" dirty="0">
                <a:solidFill>
                  <a:srgbClr val="F43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1200" spc="-2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spc="7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Grafice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intuitive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performante.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174625">
              <a:lnSpc>
                <a:spcPct val="100000"/>
              </a:lnSpc>
              <a:spcBef>
                <a:spcPts val="535"/>
              </a:spcBef>
              <a:buAutoNum type="arabicPeriod"/>
              <a:tabLst>
                <a:tab pos="287020" algn="l"/>
              </a:tabLst>
            </a:pPr>
            <a:r>
              <a:rPr sz="1200" spc="-45" dirty="0">
                <a:solidFill>
                  <a:srgbClr val="F43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1200" spc="-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spc="5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extensibil.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020" indent="-17462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287020" algn="l"/>
              </a:tabLst>
            </a:pPr>
            <a:r>
              <a:rPr sz="1200" spc="-45" dirty="0">
                <a:solidFill>
                  <a:srgbClr val="F43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Testare</a:t>
            </a:r>
            <a:r>
              <a:rPr sz="1200" spc="-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200" spc="8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7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7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diverse</a:t>
            </a:r>
            <a:r>
              <a:rPr sz="1200" spc="-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dispozitive.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6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Dashboard-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 </a:t>
            </a:r>
            <a:r>
              <a:rPr sz="1200" spc="-3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facilitează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5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rapidă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4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deciziile</a:t>
            </a:r>
            <a:r>
              <a:rPr sz="12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1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652" y="403225"/>
            <a:ext cx="4540568" cy="33239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Mulțumiri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48652" y="1081617"/>
            <a:ext cx="4540568" cy="527709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635"/>
              </a:spcBef>
              <a:buClr>
                <a:srgbClr val="F43E5E"/>
              </a:buClr>
              <a:buChar char="•"/>
              <a:tabLst>
                <a:tab pos="187325" algn="l"/>
              </a:tabLst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Conducător științific: </a:t>
            </a:r>
            <a:r>
              <a:rPr sz="1200" dirty="0">
                <a:solidFill>
                  <a:srgbClr val="F43E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Adela Gorea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474470">
              <a:lnSpc>
                <a:spcPct val="100000"/>
              </a:lnSpc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Vă mulțumesc pentru atenție!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9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Override1.xml><?xml version="1.0" encoding="utf-8"?>
<a:themeOverride xmlns:a="http://schemas.openxmlformats.org/drawingml/2006/main">
  <a:clrScheme name="Crop">
    <a:dk1>
      <a:sysClr val="windowText" lastClr="000000"/>
    </a:dk1>
    <a:lt1>
      <a:sysClr val="window" lastClr="FFFFFF"/>
    </a:lt1>
    <a:dk2>
      <a:srgbClr val="191B0E"/>
    </a:dk2>
    <a:lt2>
      <a:srgbClr val="EFEDE3"/>
    </a:lt2>
    <a:accent1>
      <a:srgbClr val="8C8D86"/>
    </a:accent1>
    <a:accent2>
      <a:srgbClr val="E6C069"/>
    </a:accent2>
    <a:accent3>
      <a:srgbClr val="897B61"/>
    </a:accent3>
    <a:accent4>
      <a:srgbClr val="8DAB8E"/>
    </a:accent4>
    <a:accent5>
      <a:srgbClr val="77A2BB"/>
    </a:accent5>
    <a:accent6>
      <a:srgbClr val="E28394"/>
    </a:accent6>
    <a:hlink>
      <a:srgbClr val="77A2BB"/>
    </a:hlink>
    <a:folHlink>
      <a:srgbClr val="957A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2148</TotalTime>
  <Words>396</Words>
  <Application>Microsoft Macintosh PowerPoint</Application>
  <PresentationFormat>Custom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Franklin Gothic Book</vt:lpstr>
      <vt:lpstr>Times New Roman</vt:lpstr>
      <vt:lpstr>Crop</vt:lpstr>
      <vt:lpstr>Dezvoltarea unui Dashboard Interactiv Utilizând React și React-Charts</vt:lpstr>
      <vt:lpstr>Actualitate</vt:lpstr>
      <vt:lpstr>Scopul lucrării</vt:lpstr>
      <vt:lpstr>Obiective</vt:lpstr>
      <vt:lpstr>Capitolul 1: Arhitectura Web</vt:lpstr>
      <vt:lpstr>Capitolul 1: Model Component-Based</vt:lpstr>
      <vt:lpstr>Capitolul 1: Gestionarea Stării</vt:lpstr>
      <vt:lpstr>Capitolul 1: Vizualizarea Datelor</vt:lpstr>
      <vt:lpstr>Partea Practică</vt:lpstr>
      <vt:lpstr>Concluzii</vt:lpstr>
      <vt:lpstr>Mulțumiri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Dezvoltarea unui Dashboard Interactiv Utilizând React și React-Charts - Teză de An</dc:title>
  <dc:creator>Oleg Oală</dc:creator>
  <cp:lastModifiedBy>Oleg Oala</cp:lastModifiedBy>
  <cp:revision>3</cp:revision>
  <dcterms:created xsi:type="dcterms:W3CDTF">2025-05-18T20:52:58Z</dcterms:created>
  <dcterms:modified xsi:type="dcterms:W3CDTF">2025-05-21T09:32:29Z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2025-05-18T00:00:00Z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(20220710)</vt:lpwstr>
  </property>
  <property fmtid="{D5CDD505-2E9C-101B-9397-08002B2CF9AE}" pid="5" name="LastSaved">
    <vt:filetime>2025-05-18T00:00:00Z</vt:filetime>
  </property>
</Properties>
</file>